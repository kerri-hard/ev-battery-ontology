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EV Battery AIOps for Dark 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Research-Backed Causal Reasoning + LLM Hybrid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65960"/>
            <a:ext cx="3566160" cy="14173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Mission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문제 감지→진단→복구→학습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사람 개입 최소화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965960"/>
            <a:ext cx="356616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965960"/>
            <a:ext cx="3566160" cy="14173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Core Stack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Knowledge Graph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Multi-Agent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Digital Twin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965960"/>
            <a:ext cx="3566160" cy="73152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965960"/>
            <a:ext cx="3291840" cy="14173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Current Stage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L3 운영, Phase4 통합 중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실시간 대시보드 연동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65960"/>
            <a:ext cx="32918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10515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CAD6E8"/>
                </a:solidFill>
              </a:defRPr>
            </a:pPr>
            <a:r>
              <a:t>연구 논문 12편 기반으로 구조 설계 및 기능 매핑</a:t>
            </a:r>
          </a:p>
          <a:p>
            <a:pPr>
              <a:spcAft>
                <a:spcPts val="1100"/>
              </a:spcAft>
              <a:defRPr sz="1700">
                <a:solidFill>
                  <a:srgbClr val="CAD6E8"/>
                </a:solidFill>
              </a:defRPr>
            </a:pPr>
            <a:r>
              <a:t>현재: 인과추론 계층(L3)과 LLM 연계형 진단 API까지 구현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무엇을 만들었고, 왜 중요한가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657600" cy="34747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What We Built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L1~L3 온톨로지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자율복구 루프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자연어 진단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6576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657600" cy="34747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Validated Value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자동 복구 성공 사례 축적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재발 대응 속도 개선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설명 가능한 RCA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36576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154680" cy="34747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Next Bet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RUL 모델 고도화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HITL 정책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실설비 브리지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828800"/>
            <a:ext cx="3154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3/12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Research Map to System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논문 인사이트와 구현 컴포넌트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486400" cy="132588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Sensors 2024/2025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KG+DT 융합, KG-driven fault diagnosis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→ L1/L2 모델 + RCA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4864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029200" cy="132588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NAMRC 2026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Hybrid Agentic AI + MAS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→ LLM 전략 + Edge Agent 실행 분리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029200" cy="73152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337560"/>
            <a:ext cx="5486400" cy="132588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FD-LLM 2025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자연어 질의로 진단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→ /api/nl-diagnose + schema guardrail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37560"/>
            <a:ext cx="54864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337560"/>
            <a:ext cx="5029200" cy="132588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Self-Evolving Agents 2025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전략의 지속 개선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→ Phase5 EvolutionAgent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337560"/>
            <a:ext cx="5029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515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CAD6E8"/>
                </a:solidFill>
              </a:defRPr>
            </a:pPr>
            <a:r>
              <a:t>핵심: 단순 기능 추가가 아니라, 논문 가설을 시스템 구성요소로 전환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4/12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Cognitive Digital Twin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Physical ↔ Knowledge ↔ Agent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383280" cy="228600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Physical Twin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Sensors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Alarms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Equipment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38328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383280" cy="228600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Knowledge Graph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L1 Process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L2 Runtime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L3 Causality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L4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920240"/>
            <a:ext cx="3383280" cy="73152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91840" cy="228600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Cognitive Agents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Detect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Diagnose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Recover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2918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017520"/>
            <a:ext cx="292608" cy="0"/>
          </a:xfrm>
          <a:prstGeom prst="line">
            <a:avLst/>
          </a:prstGeom>
          <a:ln w="25400">
            <a:solidFill>
              <a:srgbClr val="8B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18120" y="3017520"/>
            <a:ext cx="292607" cy="0"/>
          </a:xfrm>
          <a:prstGeom prst="line">
            <a:avLst/>
          </a:prstGeom>
          <a:ln w="25400">
            <a:solidFill>
              <a:srgbClr val="8B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4892040"/>
            <a:ext cx="10515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CAD6E8"/>
                </a:solidFill>
              </a:defRPr>
            </a:pPr>
            <a:r>
              <a:t>운영 루프: Sense → Detect → Diagnose → Recover → Verify → 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5/12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Self-Healing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실시간 자동 복구 엔진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77440"/>
            <a:ext cx="1719072" cy="987552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SENSE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agent 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377440"/>
            <a:ext cx="171907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560320" y="2871216"/>
            <a:ext cx="192024" cy="0"/>
          </a:xfrm>
          <a:prstGeom prst="line">
            <a:avLst/>
          </a:prstGeom>
          <a:ln w="21590">
            <a:solidFill>
              <a:srgbClr val="6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79776" y="2377440"/>
            <a:ext cx="1719072" cy="987552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DETECT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agent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9776" y="2377440"/>
            <a:ext cx="1719072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498848" y="2871216"/>
            <a:ext cx="192024" cy="0"/>
          </a:xfrm>
          <a:prstGeom prst="line">
            <a:avLst/>
          </a:prstGeom>
          <a:ln w="21590">
            <a:solidFill>
              <a:srgbClr val="6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18304" y="2377440"/>
            <a:ext cx="1719072" cy="987552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DIAGNOSE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agent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377440"/>
            <a:ext cx="1719072" cy="73152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437376" y="2871216"/>
            <a:ext cx="192024" cy="0"/>
          </a:xfrm>
          <a:prstGeom prst="line">
            <a:avLst/>
          </a:prstGeom>
          <a:ln w="21590">
            <a:solidFill>
              <a:srgbClr val="6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56832" y="2377440"/>
            <a:ext cx="1719072" cy="987552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RECOVER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agent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6832" y="2377440"/>
            <a:ext cx="171907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375904" y="2871216"/>
            <a:ext cx="192024" cy="0"/>
          </a:xfrm>
          <a:prstGeom prst="line">
            <a:avLst/>
          </a:prstGeom>
          <a:ln w="21590">
            <a:solidFill>
              <a:srgbClr val="6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95360" y="2377440"/>
            <a:ext cx="1719072" cy="987552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VERIFY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agent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377440"/>
            <a:ext cx="171907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0314432" y="2871216"/>
            <a:ext cx="192024" cy="0"/>
          </a:xfrm>
          <a:prstGeom prst="line">
            <a:avLst/>
          </a:prstGeom>
          <a:ln w="21590">
            <a:solidFill>
              <a:srgbClr val="6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533888" y="2377440"/>
            <a:ext cx="1719072" cy="987552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LEARN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agent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33888" y="2377440"/>
            <a:ext cx="171907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10515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CAD6E8"/>
                </a:solidFill>
              </a:defRPr>
            </a:pPr>
            <a:r>
              <a:t>AnomalyDetector: threshold / 3-sigma / trend-shift</a:t>
            </a:r>
          </a:p>
          <a:p>
            <a:pPr>
              <a:spcAft>
                <a:spcPts val="1100"/>
              </a:spcAft>
              <a:defRPr sz="1700">
                <a:solidFill>
                  <a:srgbClr val="CAD6E8"/>
                </a:solidFill>
              </a:defRPr>
            </a:pPr>
            <a:r>
              <a:t>CausalReasoner: chain + history boost</a:t>
            </a:r>
          </a:p>
          <a:p>
            <a:pPr>
              <a:spcAft>
                <a:spcPts val="1100"/>
              </a:spcAft>
              <a:defRPr sz="1700">
                <a:solidFill>
                  <a:srgbClr val="CAD6E8"/>
                </a:solidFill>
              </a:defRPr>
            </a:pPr>
            <a:r>
              <a:t>AutoRecoveryAgent: playbook 실행 및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6/12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L3 Causal Reasoning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거리 기반 RCA에서 인과 기반 RCA로 전환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0" cy="356616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Before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거리/유사도 중심 후보순위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증상 근처 원인 과대평가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재발 학습 반영 약함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4864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120640" cy="356616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After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CausalRule 체인 추론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FailureChain 매칭과 성공률 반영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복구결과가 confidence에 누적학습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1206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7/12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Runtime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실행 데이터 기반 검증</a:t>
            </a:r>
          </a:p>
        </p:txBody>
      </p:sp>
      <p:pic>
        <p:nvPicPr>
          <p:cNvPr id="8" name="Picture 7" descr="runtime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5669280" cy="2645664"/>
          </a:xfrm>
          <a:prstGeom prst="rect">
            <a:avLst/>
          </a:prstGeom>
        </p:spPr>
      </p:pic>
      <p:pic>
        <p:nvPicPr>
          <p:cNvPr id="9" name="Picture 8" descr="incident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5120640" cy="21529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349240"/>
            <a:ext cx="10972800" cy="100584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Live Counters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readings=56, alarms=2, incidents=2, recovery=2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49240"/>
            <a:ext cx="1097280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8/12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Phase4 LLM Hybrid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안전한 LLM 연동 + 자동 폴백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394960" cy="356616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NaturalLanguageDiagnoser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질의 입력 → Incident/Causal context 구성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OpenAI Responses API(JSON schema strict)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sanitize/guardrail 적용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실패 시 symbolic mode 자동 전환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39496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120640" cy="356616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PredictiveAgent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MTBF + incident 기반 risk_score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RUL 시간 추정 + P1/P2/P3 우선순위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API: /api/predictive-rul, /api/phase4-status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대시보드에 LLM ON/OFF 및 모델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120640" cy="73152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9/12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Demo Storyboard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현업 시나리오 기준 End-to-End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515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CAD6E8"/>
                </a:solidFill>
              </a:defRPr>
            </a:pPr>
            <a:r>
              <a:t>Step 1) 공정 이상 발생: PS-103 / PS-507 threshold breach</a:t>
            </a:r>
          </a:p>
          <a:p>
            <a:pPr>
              <a:spcAft>
                <a:spcPts val="1100"/>
              </a:spcAft>
              <a:defRPr sz="1800">
                <a:solidFill>
                  <a:srgbClr val="CAD6E8"/>
                </a:solidFill>
              </a:defRPr>
            </a:pPr>
            <a:r>
              <a:t>Step 2) RCA 강화: equipment_mtbf + causal chain evidence</a:t>
            </a:r>
          </a:p>
          <a:p>
            <a:pPr>
              <a:spcAft>
                <a:spcPts val="1100"/>
              </a:spcAft>
              <a:defRPr sz="1800">
                <a:solidFill>
                  <a:srgbClr val="CAD6E8"/>
                </a:solidFill>
              </a:defRPr>
            </a:pPr>
            <a:r>
              <a:t>Step 3) 복구 실행: ADJUST_PARAMETER, 자동 검증</a:t>
            </a:r>
          </a:p>
          <a:p>
            <a:pPr>
              <a:spcAft>
                <a:spcPts val="1100"/>
              </a:spcAft>
              <a:defRPr sz="1800">
                <a:solidFill>
                  <a:srgbClr val="CAD6E8"/>
                </a:solidFill>
              </a:defRPr>
            </a:pPr>
            <a:r>
              <a:t>Step 4) 결과 저장: Incident, RecoveryAction, FailureChain</a:t>
            </a:r>
          </a:p>
          <a:p>
            <a:pPr>
              <a:spcAft>
                <a:spcPts val="1100"/>
              </a:spcAft>
              <a:defRPr sz="1800">
                <a:solidFill>
                  <a:srgbClr val="CAD6E8"/>
                </a:solidFill>
              </a:defRPr>
            </a:pPr>
            <a:r>
              <a:t>Step 5) 운영자 질의: 자연어로 원인/권고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10/12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Roadmap &amp;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Phase 진척도와 다음 실행</a:t>
            </a:r>
          </a:p>
        </p:txBody>
      </p:sp>
      <p:pic>
        <p:nvPicPr>
          <p:cNvPr id="8" name="Picture 7" descr="roadmap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6217920" cy="26143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69480" y="1783080"/>
            <a:ext cx="4251960" cy="43891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Next 90 Days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RUL 모델: heuristic → LSTM/Transformer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HITL 정책 엔진(고위험 action 승인제)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MQTT/OPC-UA 실설비 브리지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ResilienceOrchestrator PoC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비용/효과 KPI 대시보드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783080"/>
            <a:ext cx="4251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11/12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Risk, Governance,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자동화 품질을 보장하는 운영 원칙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657600" cy="34747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Model Risk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오탐/미탐 관리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confidence 임계값 운영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재현 테스트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657600" cy="34747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Operational Risk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고위험 조치 HITL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에스컬레이션 정책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롤백 절차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154680" cy="3474720"/>
          </a:xfrm>
          <a:prstGeom prst="roundRect">
            <a:avLst/>
          </a:prstGeom>
          <a:solidFill>
            <a:srgbClr val="141F39"/>
          </a:solidFill>
          <a:ln w="17780">
            <a:solidFill>
              <a:srgbClr val="42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EEF4FF"/>
                </a:solidFill>
              </a:defRPr>
            </a:pPr>
            <a:r>
              <a:t>Data Risk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로그/이력 보존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감사 추적성</a:t>
            </a:r>
          </a:p>
          <a:p>
            <a:pPr>
              <a:defRPr sz="1350">
                <a:solidFill>
                  <a:srgbClr val="CAD6E8"/>
                </a:solidFill>
              </a:defRPr>
            </a:pPr>
            <a:r>
              <a:t>보안 키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828800"/>
            <a:ext cx="3154680" cy="7315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E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82296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65379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CB4"/>
                </a:solidFill>
              </a:defRPr>
            </a:pPr>
            <a:r>
              <a:t>12/12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EEF4FF"/>
                </a:solidFill>
              </a:defRPr>
            </a:pPr>
            <a:r>
              <a:t>Conclusion &amp;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CB4"/>
                </a:solidFill>
              </a:defRPr>
            </a:pPr>
            <a:r>
              <a:t>From Monitoring to Autonomous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0515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CAD6E8"/>
                </a:solidFill>
              </a:defRPr>
            </a:pPr>
            <a:r>
              <a:t>핵심 결론: 인과추론 + LLM 하이브리드가 제조 AIOps 실용 구간을 연다</a:t>
            </a:r>
          </a:p>
          <a:p>
            <a:pPr>
              <a:spcAft>
                <a:spcPts val="1100"/>
              </a:spcAft>
              <a:defRPr sz="1800">
                <a:solidFill>
                  <a:srgbClr val="CAD6E8"/>
                </a:solidFill>
              </a:defRPr>
            </a:pPr>
            <a:r>
              <a:t>실행 결론: 이미 동작하는 L3/Phase4를 기반으로 L4 다크팩토리로 확장 가능</a:t>
            </a:r>
          </a:p>
          <a:p>
            <a:pPr>
              <a:spcAft>
                <a:spcPts val="1100"/>
              </a:spcAft>
              <a:defRPr sz="1800">
                <a:solidFill>
                  <a:srgbClr val="CAD6E8"/>
                </a:solidFill>
              </a:defRPr>
            </a:pPr>
            <a:r>
              <a:t>References: Sensors 2024, Sensors 2025, NAMRC 2026, FD-LLM 2025, Self-Evolving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