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CF4FF"/>
                </a:solidFill>
              </a:defRPr>
            </a:pPr>
            <a:r>
              <a:t>EV Battery Manufacturing Ontology AIOps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4B2C6"/>
                </a:solidFill>
              </a:defRPr>
            </a:pPr>
            <a:r>
              <a:t>논문 기반 인과추론 + LLM 하이브리드 자율복구 플랫폼 |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목표: 문제 감지→진단→복구→학습을 자동화하는 Dark Factory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핵심: Knowledge Graph + Multi-Agent + Cognitive Digital Twin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현황: L3 인과추론 가동, Phase4 LLM 연동형 분석까지 구현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CF4FF"/>
                </a:solidFill>
              </a:defRPr>
            </a:pPr>
            <a:r>
              <a:t>왜 지금 이 시스템이 필요한가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4B2C6"/>
                </a:solidFill>
              </a:defRPr>
            </a:pPr>
            <a:r>
              <a:t>제조 현장의 기존 한계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657600" cy="3566160"/>
          </a:xfrm>
          <a:prstGeom prst="roundRect">
            <a:avLst/>
          </a:prstGeom>
          <a:solidFill>
            <a:srgbClr val="151E36"/>
          </a:solidFill>
          <a:ln w="19050">
            <a:solidFill>
              <a:srgbClr val="3C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74EBF7"/>
                </a:solidFill>
              </a:defRPr>
            </a:pPr>
            <a:r>
              <a:t>기존 방식의 문제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원인분석이 사람 의존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장애 이력 비구조화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대응 품질 편차 큼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재발 시 매번 처음부터 대응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828800"/>
            <a:ext cx="3657600" cy="3566160"/>
          </a:xfrm>
          <a:prstGeom prst="roundRect">
            <a:avLst/>
          </a:prstGeom>
          <a:solidFill>
            <a:srgbClr val="151E36"/>
          </a:solidFill>
          <a:ln w="19050">
            <a:solidFill>
              <a:srgbClr val="3C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74EBF7"/>
                </a:solidFill>
              </a:defRPr>
            </a:pPr>
            <a:r>
              <a:t>연구가 제시한 방향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KG+DT 융합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인과 기반 RCA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LLM 오케스트레이션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자가학습 에이전트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3108960" cy="3566160"/>
          </a:xfrm>
          <a:prstGeom prst="roundRect">
            <a:avLst/>
          </a:prstGeom>
          <a:solidFill>
            <a:srgbClr val="151E36"/>
          </a:solidFill>
          <a:ln w="19050">
            <a:solidFill>
              <a:srgbClr val="3C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74EBF7"/>
                </a:solidFill>
              </a:defRPr>
            </a:pPr>
            <a:r>
              <a:t>우리 접근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L1~L4 온톨로지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멀티 에이전트 루프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실시간 대시보드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복구/학습 이력 영속화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CF4FF"/>
                </a:solidFill>
              </a:defRPr>
            </a:pPr>
            <a:r>
              <a:t>최신 논문 기반 설계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4B2C6"/>
                </a:solidFill>
              </a:defRPr>
            </a:pPr>
            <a:r>
              <a:t>2024~2026 핵심 레퍼런스 정렬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Sensors 2024: Digital Twin + KG 융합은 예지정비/이상탐지 효과 증가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Sensors 2025: KG 기반 Fault Diagnosis는 진단 효율 및 설명성 향상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NAMRC 2026: LLM(전략) + Edge Agent(실행) 하이브리드가 실용적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AEI 2025 FD-LLM: 자연어 질의로 장비 진단 가능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Self-Evolving Agents 2025: 경험 기반 자가진화가 장기 경쟁력의 핵심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CF4FF"/>
                </a:solidFill>
              </a:defRPr>
            </a:pPr>
            <a:r>
              <a:t>Cognitive Digital Twin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4B2C6"/>
                </a:solidFill>
              </a:defRPr>
            </a:pPr>
            <a:r>
              <a:t>Physical Twin ↔ Knowledge Graph ↔ Cognitive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566160" cy="3474720"/>
          </a:xfrm>
          <a:prstGeom prst="roundRect">
            <a:avLst/>
          </a:prstGeom>
          <a:solidFill>
            <a:srgbClr val="151E36"/>
          </a:solidFill>
          <a:ln w="19050">
            <a:solidFill>
              <a:srgbClr val="3C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74EBF7"/>
                </a:solidFill>
              </a:defRPr>
            </a:pPr>
            <a:r>
              <a:t>Physical Twin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센서/알람 실시간 수집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이상 징후 입력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운영 상태 피드백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566160" cy="3474720"/>
          </a:xfrm>
          <a:prstGeom prst="roundRect">
            <a:avLst/>
          </a:prstGeom>
          <a:solidFill>
            <a:srgbClr val="151E36"/>
          </a:solidFill>
          <a:ln w="19050">
            <a:solidFill>
              <a:srgbClr val="3C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74EBF7"/>
                </a:solidFill>
              </a:defRPr>
            </a:pPr>
            <a:r>
              <a:t>Knowledge Graph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L1 공정지식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L2 실시간상태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L3 인과추론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L4 의사결정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383280" cy="3474720"/>
          </a:xfrm>
          <a:prstGeom prst="roundRect">
            <a:avLst/>
          </a:prstGeom>
          <a:solidFill>
            <a:srgbClr val="151E36"/>
          </a:solidFill>
          <a:ln w="19050">
            <a:solidFill>
              <a:srgbClr val="3C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74EBF7"/>
                </a:solidFill>
              </a:defRPr>
            </a:pPr>
            <a:r>
              <a:t>Cognitive Agents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Detect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Diagnose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Recover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Verify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CF4FF"/>
                </a:solidFill>
              </a:defRPr>
            </a:pPr>
            <a:r>
              <a:t>현재 구현 현황 (As-Is)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4B2C6"/>
                </a:solidFill>
              </a:defRPr>
            </a:pPr>
            <a:r>
              <a:t>연구 방향 반영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Phase1~2 완료: 6종 온톨로지 개선 에이전트 + 3종 자율복구 에이전트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L3 운영: CausalRule/FailureChain/AnomalyPattern + CAUSES/MATCHED_BY/CHAIN_USES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복구 루프 데이터 영속화: Incident/RecoveryAction 및 트렌드 히스토리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대시보드 강화: 인과 링크 흐름, L3 트렌드, 이슈 상세 모달, 케이스 패널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Phase4 착수: PredictiveAgent(RUL), NaturalLanguageDiagnoser(질의 진단) API 제공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CF4FF"/>
                </a:solidFill>
              </a:defRPr>
            </a:pPr>
            <a:r>
              <a:t>인과추론 엔진 (L3)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4B2C6"/>
                </a:solidFill>
              </a:defRPr>
            </a:pPr>
            <a:r>
              <a:t>Correlation에서 Causation으로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CausalRule 체인: 원인→중간현상→결과를 그래프로 구조화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FailureChain 매칭: 과거 동일 패턴 성공/실패 이력 기반 confidence 보정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RCA 강화: 기본 후보 confidence + causal_boost + history_boost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복구 후 학습: confirmation_count 및 CHAIN_USES 관계 자동 업데이트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효과: 반복 장애의 탐지/진단 속도 개선, 설명 가능한 RCA 제공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CF4FF"/>
                </a:solidFill>
              </a:defRPr>
            </a:pPr>
            <a:r>
              <a:t>LLM 하이브리드 통합 (Phase4)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4B2C6"/>
                </a:solidFill>
              </a:defRPr>
            </a:pPr>
            <a:r>
              <a:t>전략적 추론은 LLM, 고속 실행은 Edge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394960" cy="3474720"/>
          </a:xfrm>
          <a:prstGeom prst="roundRect">
            <a:avLst/>
          </a:prstGeom>
          <a:solidFill>
            <a:srgbClr val="151E36"/>
          </a:solidFill>
          <a:ln w="19050">
            <a:solidFill>
              <a:srgbClr val="3C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74EBF7"/>
                </a:solidFill>
              </a:defRPr>
            </a:pPr>
            <a:r>
              <a:t>NaturalLanguageDiagnoser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자연어 질문 입력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Incident + CausalRule 컨텍스트 구성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OpenAI Responses API(JSON Schema) 진단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실패 시 symbolic 분석 자동 폴백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937760" cy="3474720"/>
          </a:xfrm>
          <a:prstGeom prst="roundRect">
            <a:avLst/>
          </a:prstGeom>
          <a:solidFill>
            <a:srgbClr val="151E36"/>
          </a:solidFill>
          <a:ln w="19050">
            <a:solidFill>
              <a:srgbClr val="3C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74EBF7"/>
                </a:solidFill>
              </a:defRPr>
            </a:pPr>
            <a:r>
              <a:t>PredictiveAgent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MTBF + incident 기반 risk_score 산출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RUL(hours) 추정 및 P1/P2/P3 우선순위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API: /api/predictive-rul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대시보드에서 LLM ON/OFF 및 모델 상태 노출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CF4FF"/>
                </a:solidFill>
              </a:defRPr>
            </a:pPr>
            <a:r>
              <a:t>실행 데모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4B2C6"/>
                </a:solidFill>
              </a:defRPr>
            </a:pPr>
            <a:r>
              <a:t>문제 발생부터 학습까지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1) Sensor anomaly 발생 (threshold/statistical/trend)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2) RootCauseAnalyzer + CausalReasoner로 근본 원인 후보 생성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3) AutoRecoveryAgent가 최적 action 실행 및 검증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4) Incident/RecoveryAction/FailureChain 업데이트로 재발 대응력 강화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5) 운영자 질의: '/api/nl-diagnose'로 원인/권고를 자연어로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CF4FF"/>
                </a:solidFill>
              </a:defRPr>
            </a:pPr>
            <a:r>
              <a:t>성과 및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4B2C6"/>
                </a:solidFill>
              </a:defRPr>
            </a:pPr>
            <a:r>
              <a:t>정량 검증 관점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566160" cy="3474720"/>
          </a:xfrm>
          <a:prstGeom prst="roundRect">
            <a:avLst/>
          </a:prstGeom>
          <a:solidFill>
            <a:srgbClr val="151E36"/>
          </a:solidFill>
          <a:ln w="19050">
            <a:solidFill>
              <a:srgbClr val="3C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74EBF7"/>
                </a:solidFill>
              </a:defRPr>
            </a:pPr>
            <a:r>
              <a:t>운영 KPI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Auto Recovery Rate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MTTR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재발률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수율 개선 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828800"/>
            <a:ext cx="3566160" cy="3474720"/>
          </a:xfrm>
          <a:prstGeom prst="roundRect">
            <a:avLst/>
          </a:prstGeom>
          <a:solidFill>
            <a:srgbClr val="151E36"/>
          </a:solidFill>
          <a:ln w="19050">
            <a:solidFill>
              <a:srgbClr val="3C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74EBF7"/>
                </a:solidFill>
              </a:defRPr>
            </a:pPr>
            <a:r>
              <a:t>지식 KPI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L3 link 증가량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FailureChain 적중률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CausalRule confirmation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3200400" cy="3474720"/>
          </a:xfrm>
          <a:prstGeom prst="roundRect">
            <a:avLst/>
          </a:prstGeom>
          <a:solidFill>
            <a:srgbClr val="151E36"/>
          </a:solidFill>
          <a:ln w="19050">
            <a:solidFill>
              <a:srgbClr val="3C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74EBF7"/>
                </a:solidFill>
              </a:defRPr>
            </a:pPr>
            <a:r>
              <a:t>AI KPI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질의 응답 신뢰도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HITL 전환율</a:t>
            </a:r>
          </a:p>
          <a:p>
            <a:pPr>
              <a:defRPr sz="1400">
                <a:solidFill>
                  <a:srgbClr val="E3EBF7"/>
                </a:solidFill>
              </a:defRPr>
            </a:pPr>
            <a:r>
              <a:t>LLM 비용 대비 효과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CF4FF"/>
                </a:solidFill>
              </a:defRPr>
            </a:pPr>
            <a:r>
              <a:t>남은 연구 과제와 실행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4B2C6"/>
                </a:solidFill>
              </a:defRPr>
            </a:pPr>
            <a:r>
              <a:t>논문 정합성 100%를 위한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RUL 고도화: heuristic → LSTM/Transformer 시계열 예측 모델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HITL 정책 엔진: 고위험 복구 자동 차단 + 승인 워크플로우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MQTT/OPC-UA 브리지: 실제 설비 데이터 파이프라인 연결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ResilienceOrchestrator: 고장 시 라인 재편성 자동 의사결정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EvolutionAgent: 전략 mutation/A-B test/승격 루프 구현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CF4FF"/>
                </a:solidFill>
              </a:defRPr>
            </a:pPr>
            <a: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4B2C6"/>
                </a:solidFill>
              </a:defRPr>
            </a:pPr>
            <a:r>
              <a:t>Dark Factory로 가는 실증 가능한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이 시스템은 '모니터링 도구'가 아니라 '자율 복구 시스템'을 지향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인과추론(L3)과 LLM 하이브리드(Phase4)로 연구 기반 실용성을 확보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다음 분기 목표: 예지정비 정확도와 자율성 레벨 동시 상향</a:t>
            </a:r>
          </a:p>
          <a:p>
            <a:pPr>
              <a:spcAft>
                <a:spcPts val="1400"/>
              </a:spcAft>
              <a:defRPr sz="2100">
                <a:solidFill>
                  <a:srgbClr val="DFE7F2"/>
                </a:solidFill>
              </a:defRPr>
            </a:pPr>
            <a:r>
              <a:t>핵심 메시지: 데이터가 아니라 인과관계를 학습하는 공장으로 전환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